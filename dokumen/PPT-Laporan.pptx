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Laporan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Pembangunan wilayah yang komprehensif tidak hanya diukur dari pertumbuhan infrastruktur fisik, tetapi juga dari peningkatkan taraf hidup dan kesejahteraan masyarakatnya. Salah satu indikator utama yang masih menjadi tantangan dalam pembangunan di berbagai wilayah di Indonesia adalah tingkat kemiskinan (Kuncoro 2010). Kemiskinan merupakan fenomena multidimensional yang dipengaruhi oleh berbagai faktor sosial dan ekonomi. Dalam pendekatan makroekonomi, kualitas sumber daya manusia dan ketersediaan lapangan pekerjaan dianggap sebagai dua pilar krusial yang dapat mengentaskan masyarakat dari garis kemiskinan.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Teori human capital atau modal manusia menegaskan bahwa pendidikan formal merupakan investasi jangka panjang yang berbanding lurus dengan peningkatan produktivitas dan kapabilitas ekonomi seseorang (Todaro dan Smith 2015). Hal ini direpresentasikan oleh indikator rata-rata lama sekolah. Logika statistiknya, semakin tinggi durasi pendidikan yang diselesaikan oleh penduduk di suatu wilayah, semakin besar peluang mereka untuk diserap oleh pasar kerja yang layak, sehingga tingkat kemiskinan dapat ditekan. Sebaliknya, ketidakmampuan pasar kerja dalam menyerap angkatan kerja akan memicu tingginya angka pengangguran terbuka. Tingkat pengangguran yang tinggi secara langsung memutus aliran pendapatan individu, yang pada akhirnya bermuara pada peningkatan persentase kemiskinan wilayah (Sukirno, 2011).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Dalam pengolahan data riil terkait indikator-indikator tersebut, analis sering dihadapkan pada masalah kualitas data, seperti adanya data yang hilang (missing value) atau nilai anomali yang ekstrem (outlier). Oleh karena itu, proyek ini disusun untuk melakukan analisis statistika secara komprehensif menggunakan bahasa pemrograman R. Evaluasi difokuskan pada penerapan statistika deskriptif, penanganan ketidaksempurnaan data, hingga pembuktian statistik mengenai korelasi antara rata-rata lama sekolah dan tingkat pengangguran terhadap persentase kemiskinan di berbagai wilayah.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with Bullets</a:t>
            </a:r>
          </a:p>
        </p:txBody>
      </p:sp>
      <p:sp>
        <p:nvSpPr>
          <p:cNvPr id="3" name="Content Placeholder 2"/>
          <p:cNvSpPr>
            <a:spLocks noGrp="1"/>
          </p:cNvSpPr>
          <p:nvPr>
            <p:ph idx="1"/>
          </p:nvPr>
        </p:nvSpPr>
        <p:spPr/>
        <p:txBody>
          <a:bodyPr/>
          <a:lstStyle/>
          <a:p>
            <a:pPr lvl="0"/>
            <a:r>
              <a:rPr/>
              <a:t>Bullet 1</a:t>
            </a:r>
          </a:p>
          <a:p>
            <a:pPr lvl="0"/>
            <a:r>
              <a:rPr/>
              <a:t>Bullet 2</a:t>
            </a:r>
          </a:p>
          <a:p>
            <a:pPr lvl="0"/>
            <a:r>
              <a:rPr/>
              <a:t>Bullet 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Missing Values</a:t>
            </a:r>
          </a:p>
        </p:txBody>
      </p:sp>
      <p:sp>
        <p:nvSpPr>
          <p:cNvPr id="3" name="Content Placeholder 2"/>
          <p:cNvSpPr>
            <a:spLocks noGrp="1"/>
          </p:cNvSpPr>
          <p:nvPr>
            <p:ph idx="1"/>
          </p:nvPr>
        </p:nvSpPr>
        <p:spPr/>
        <p:txBody>
          <a:bodyPr/>
          <a:lstStyle/>
          <a:p>
            <a:pPr lvl="0" indent="0">
              <a:buNone/>
            </a:pPr>
            <a:r>
              <a:rPr>
                <a:solidFill>
                  <a:srgbClr val="06287E"/>
                </a:solidFill>
                <a:latin typeface="Courier"/>
              </a:rPr>
              <a:t>summary</a:t>
            </a:r>
            <a:r>
              <a:rPr>
                <a:latin typeface="Courier"/>
              </a:rPr>
              <a:t>(data)</a:t>
            </a:r>
          </a:p>
          <a:p>
            <a:pPr lvl="0" indent="0">
              <a:buNone/>
            </a:pPr>
            <a:r>
              <a:rPr>
                <a:latin typeface="Courier"/>
              </a:rPr>
              <a:t>##       wilayah          provinsi        tahun      pdrb_perkapita     
##  Length   :2500   Length   :2500   Min.   :2020   Min.   :1.503e+07  
##  N.unique :2500   N.unique :  10   1st Qu.:2021   1st Qu.:6.962e+07  
##  N.blank  :   0   N.blank  :   0   Median :2022   Median :1.373e+08  
##  Min.nchar:  16   Min.nchar:   5   Mean   :2022   Mean   :1.357e+08  
##  Max.nchar:  19   Max.nchar:  16   3rd Qu.:2023   3rd Qu.:1.939e+08  
##                                    Max.   :2024   Max.   :1.775e+09  
##                                                   NAs    :25         
##    kemiskinan     pengangguran         ipm        harapan_hidup  
##  Min.   : 2.01   Min.   : 1.010   Min.   :55.01   Min.   :60.01  
##  1st Qu.: 7.86   1st Qu.: 4.350   1st Qu.:62.52   1st Qu.:64.66  
##  Median :13.72   Median : 8.230   Median :69.89   Median :69.30  
##  Mean   :13.72   Mean   : 8.046   Mean   :69.90   Mean   :69.13  
##  3rd Qu.:19.39   3rd Qu.:11.520   3rd Qu.:77.16   3rd Qu.:73.58  
##  Max.   :67.53   Max.   :47.040   Max.   :84.99   Max.   :77.99  
##  NAs    :24      NAs    :25       NAs    :25                     
##  rata_lama_sekolah akses_internet    jalan_baik      air_bersih   
##  Min.   : 5.020    Min.   : 0.01   Min.   :30.01   Min.   :40.03  
##  1st Qu.: 7.327    1st Qu.:38.91   1st Qu.:47.40   1st Qu.:54.32  
##  Median : 9.520    Median :58.09   Median :65.02   Median :69.68  
##  Mean   : 9.581    Mean   :58.79   Mean   :65.26   Mean   :69.76  
##  3rd Qu.:11.912    3rd Qu.:78.67   3rd Qu.:83.24   3rd Qu.:85.18  
##  Max.   :14.000    Max.   :97.99   Max.   :99.95   Max.   :99.99  
##                    NAs    :25      NAs    :25                     
##     catatan_data 
##  Length   :2500  
##  N.unique :   3  
##  N.blank  :   0  
##  Min.nchar:   6  
##  Max.nchar:  13  
##                  
##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with R Output</a:t>
            </a:r>
          </a:p>
        </p:txBody>
      </p:sp>
      <p:sp>
        <p:nvSpPr>
          <p:cNvPr id="3" name="Content Placeholder 2"/>
          <p:cNvSpPr>
            <a:spLocks noGrp="1"/>
          </p:cNvSpPr>
          <p:nvPr>
            <p:ph idx="1"/>
          </p:nvPr>
        </p:nvSpPr>
        <p:spPr/>
        <p:txBody>
          <a:bodyPr/>
          <a:lstStyle/>
          <a:p>
            <a:pPr lvl="0" indent="0">
              <a:buNone/>
            </a:pPr>
            <a:r>
              <a:rPr>
                <a:solidFill>
                  <a:srgbClr val="06287E"/>
                </a:solidFill>
                <a:latin typeface="Courier"/>
              </a:rPr>
              <a:t>summary</a:t>
            </a:r>
            <a:r>
              <a:rPr>
                <a:latin typeface="Courier"/>
              </a:rPr>
              <a:t>(cars)</a:t>
            </a:r>
          </a:p>
          <a:p>
            <a:pPr lvl="0" indent="0">
              <a:buNone/>
            </a:pPr>
            <a:r>
              <a:rPr>
                <a:latin typeface="Courier"/>
              </a:rPr>
              <a:t>##      speed           dist       
##  Min.   : 4.0   Min.   :  2.00  
##  1st Qu.:12.0   1st Qu.: 26.00  
##  Median :15.0   Median : 36.00  
##  Mean   :15.4   Mean   : 42.98  
##  3rd Qu.:19.0   3rd Qu.: 56.00  
##  Max.   :25.0   Max.   :120.00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with Plot</a:t>
            </a:r>
          </a:p>
        </p:txBody>
      </p:sp>
      <p:pic>
        <p:nvPicPr>
          <p:cNvPr descr="PPT-Laporan_files/PPT-Laporan_files/figure-pptx/pressure-1.png" id="0" name="Picture 1"/>
          <p:cNvPicPr>
            <a:picLocks noGrp="1" noChangeAspect="1"/>
          </p:cNvPicPr>
          <p:nvPr/>
        </p:nvPicPr>
        <p:blipFill>
          <a:blip r:embed="rId2"/>
          <a:stretch>
            <a:fillRect/>
          </a:stretch>
        </p:blipFill>
        <p:spPr bwMode="auto">
          <a:xfrm>
            <a:off x="2451100" y="1193800"/>
            <a:ext cx="42418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Laporan</dc:title>
  <dc:creator/>
  <cp:keywords/>
  <dcterms:created xsi:type="dcterms:W3CDTF">2026-06-08T01:25:18Z</dcterms:created>
  <dcterms:modified xsi:type="dcterms:W3CDTF">2026-06-08T01:25:18Z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powerpoint_presentation</vt:lpwstr>
  </property>
</Properties>
</file>